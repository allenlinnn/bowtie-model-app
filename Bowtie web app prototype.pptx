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441" r:id="rId2"/>
    <p:sldId id="448" r:id="rId3"/>
    <p:sldId id="445" r:id="rId4"/>
    <p:sldId id="446" r:id="rId5"/>
    <p:sldId id="447" r:id="rId6"/>
    <p:sldId id="449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86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7C023-7352-49DC-ABBB-70F408359A7B}" type="datetimeFigureOut">
              <a:rPr lang="zh-TW" altLang="en-US" smtClean="0"/>
              <a:t>2026/5/21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E9B26D-F12B-4E0C-A5E0-DC0C20E478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1151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138E4E-990F-4391-8450-10992F0E61A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112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138E4E-990F-4391-8450-10992F0E61A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629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138E4E-990F-4391-8450-10992F0E61A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107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138E4E-990F-4391-8450-10992F0E61A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509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138E4E-990F-4391-8450-10992F0E61A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012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138E4E-990F-4391-8450-10992F0E61A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1817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0976" y="5762624"/>
            <a:ext cx="7981950" cy="809625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3240354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90501" y="189781"/>
            <a:ext cx="8177841" cy="690114"/>
          </a:xfrm>
        </p:spPr>
        <p:txBody>
          <a:bodyPr tIns="0" bIns="0">
            <a:normAutofit/>
          </a:bodyPr>
          <a:lstStyle>
            <a:lvl1pPr>
              <a:defRPr sz="4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90501" y="1181100"/>
            <a:ext cx="11810999" cy="499586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A2C19D-F6C0-4356-B6A5-231EB99F5BB4}"/>
              </a:ext>
            </a:extLst>
          </p:cNvPr>
          <p:cNvSpPr/>
          <p:nvPr userDrawn="1"/>
        </p:nvSpPr>
        <p:spPr>
          <a:xfrm>
            <a:off x="8470900" y="0"/>
            <a:ext cx="3721100" cy="1063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586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050" y="2607168"/>
            <a:ext cx="6400800" cy="1643664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353050" y="1769242"/>
            <a:ext cx="6400800" cy="74295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112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9369AD9E-A359-4040-9B2B-50A8DE3F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050" y="2607168"/>
            <a:ext cx="6400800" cy="1643664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B2D6C827-5C39-4A80-AE58-7B23F42C2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3050" y="1769242"/>
            <a:ext cx="6400800" cy="74295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48109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A50688FB-E52A-4DCA-BD57-D9AC7FBD1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050" y="2607168"/>
            <a:ext cx="6400800" cy="1643664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A34874E-6D30-40F7-93E1-3AEFA2E40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3050" y="1769242"/>
            <a:ext cx="6400800" cy="74295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235899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A50688FB-E52A-4DCA-BD57-D9AC7FBD1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050" y="2607168"/>
            <a:ext cx="6400800" cy="1643664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DA34874E-6D30-40F7-93E1-3AEFA2E403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3050" y="1769242"/>
            <a:ext cx="6400800" cy="74295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845922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14F933DC-FF42-480B-A66D-0FFB5D031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3050" y="2607168"/>
            <a:ext cx="6400800" cy="1643664"/>
          </a:xfrm>
        </p:spPr>
        <p:txBody>
          <a:bodyPr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6" name="文字版面配置區 2">
            <a:extLst>
              <a:ext uri="{FF2B5EF4-FFF2-40B4-BE49-F238E27FC236}">
                <a16:creationId xmlns:a16="http://schemas.microsoft.com/office/drawing/2014/main" id="{2664C4CA-32D5-4891-A5FE-1C141C454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3050" y="1769242"/>
            <a:ext cx="6400800" cy="742950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52182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00025" y="1190625"/>
            <a:ext cx="5819775" cy="4986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199" y="1190625"/>
            <a:ext cx="5829301" cy="4986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8" name="標題 1"/>
          <p:cNvSpPr txBox="1">
            <a:spLocks/>
          </p:cNvSpPr>
          <p:nvPr userDrawn="1"/>
        </p:nvSpPr>
        <p:spPr>
          <a:xfrm>
            <a:off x="120770" y="112143"/>
            <a:ext cx="8177841" cy="828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>
                <a:solidFill>
                  <a:prstClr val="black"/>
                </a:solidFill>
              </a:rPr>
              <a:t>按一下以編輯母片標題樣式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C1C81A-3E3B-424E-91FF-EACCDFF7C40D}"/>
              </a:ext>
            </a:extLst>
          </p:cNvPr>
          <p:cNvSpPr/>
          <p:nvPr userDrawn="1"/>
        </p:nvSpPr>
        <p:spPr>
          <a:xfrm>
            <a:off x="8470900" y="0"/>
            <a:ext cx="3721100" cy="1063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983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938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9258300" y="6294438"/>
            <a:ext cx="2743200" cy="365125"/>
          </a:xfrm>
        </p:spPr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標題 1"/>
          <p:cNvSpPr txBox="1">
            <a:spLocks/>
          </p:cNvSpPr>
          <p:nvPr userDrawn="1"/>
        </p:nvSpPr>
        <p:spPr>
          <a:xfrm>
            <a:off x="120770" y="112143"/>
            <a:ext cx="8177841" cy="8281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>
                <a:solidFill>
                  <a:prstClr val="black"/>
                </a:solidFill>
              </a:rPr>
              <a:t>按一下以編輯母片標題樣式</a:t>
            </a:r>
            <a:endParaRPr lang="zh-TW" altLang="en-US" dirty="0">
              <a:solidFill>
                <a:prstClr val="black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7252BE-7330-4850-8202-E18B82D37CDC}"/>
              </a:ext>
            </a:extLst>
          </p:cNvPr>
          <p:cNvSpPr/>
          <p:nvPr userDrawn="1"/>
        </p:nvSpPr>
        <p:spPr>
          <a:xfrm>
            <a:off x="8470900" y="0"/>
            <a:ext cx="3721100" cy="1063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146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0023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最末頁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4141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44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577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662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526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CD41C2-4E98-4307-9E05-4D5FCE314EE3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85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llenlinnn.github.io/bowtie-model-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DECB97-51EB-0B2F-DCF1-0DB4DAE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Bowtie web</a:t>
            </a:r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app prototype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E835-788A-B923-1ABE-E71B00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D41C2-4E98-4307-9E05-4D5FCE314E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pic>
        <p:nvPicPr>
          <p:cNvPr id="7" name="圖片 6">
            <a:hlinkClick r:id="rId3"/>
            <a:extLst>
              <a:ext uri="{FF2B5EF4-FFF2-40B4-BE49-F238E27FC236}">
                <a16:creationId xmlns:a16="http://schemas.microsoft.com/office/drawing/2014/main" id="{6D73D457-9E0A-75D9-B9E9-CB3786979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37" y="964728"/>
            <a:ext cx="10806526" cy="532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495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DECB97-51EB-0B2F-DCF1-0DB4DAE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solidFill>
                  <a:schemeClr val="accent5">
                    <a:lumMod val="50000"/>
                  </a:schemeClr>
                </a:solidFill>
              </a:rPr>
              <a:t>Quick Start</a:t>
            </a:r>
            <a:endParaRPr lang="zh-TW" alt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E835-788A-B923-1ABE-E71B00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D41C2-4E98-4307-9E05-4D5FCE314E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293157-CCED-22AC-C18D-D1E37F16BDAD}"/>
              </a:ext>
            </a:extLst>
          </p:cNvPr>
          <p:cNvSpPr txBox="1"/>
          <p:nvPr/>
        </p:nvSpPr>
        <p:spPr>
          <a:xfrm>
            <a:off x="457200" y="1016001"/>
            <a:ext cx="11018982" cy="5010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點擊鏈接打開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web app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輸入項目名稱，點選「建立新專案」。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點選左側「節點模板」頁籤，拖曳節點至中央畫布。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或點選左側「專屬資料庫」頁籤，拖曳以已儲存節點至中央畫布。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雙擊名稱或選取節點並於右側修改節點名稱、編號、描述等等屬性。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點選右側「儲存」可將節點儲存至全域資料庫，以利其他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bowtie model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專案再次利用。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拖曳節點邊緣端點連接不同截點。</a:t>
            </a:r>
          </a:p>
          <a:p>
            <a:pPr marL="514350" marR="0" lvl="0" indent="-5143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模型繪製完成後點選右上角輸出成果為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PNG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圖片或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PDF</a:t>
            </a: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檔。</a:t>
            </a:r>
          </a:p>
        </p:txBody>
      </p:sp>
    </p:spTree>
    <p:extLst>
      <p:ext uri="{BB962C8B-B14F-4D97-AF65-F5344CB8AC3E}">
        <p14:creationId xmlns:p14="http://schemas.microsoft.com/office/powerpoint/2010/main" val="343092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DECB97-51EB-0B2F-DCF1-0DB4DAE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專案背景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E835-788A-B923-1ABE-E71B00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D41C2-4E98-4307-9E05-4D5FCE314E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293157-CCED-22AC-C18D-D1E37F16BDAD}"/>
              </a:ext>
            </a:extLst>
          </p:cNvPr>
          <p:cNvSpPr txBox="1"/>
          <p:nvPr/>
        </p:nvSpPr>
        <p:spPr>
          <a:xfrm>
            <a:off x="457200" y="1016001"/>
            <a:ext cx="110189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執行計畫過程需要繪製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Bowtie model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現有商用繪製軟體價格昂貴，如</a:t>
            </a:r>
            <a:r>
              <a:rPr kumimoji="0" lang="en-US" altLang="zh-TW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BowTieXP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, </a:t>
            </a:r>
            <a:r>
              <a:rPr kumimoji="0" lang="en-US" altLang="zh-TW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Bowtie.app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免費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Bowtie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專用軟體資料需公開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非專用軟體如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Visio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、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draw.io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、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Excel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不易於管理、建立領域專屬的圖表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使用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rPr>
              <a:t>Gemini CLI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開發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1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DECB97-51EB-0B2F-DCF1-0DB4DAE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技術架構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E835-788A-B923-1ABE-E71B00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D41C2-4E98-4307-9E05-4D5FCE314E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293157-CCED-22AC-C18D-D1E37F16BDAD}"/>
              </a:ext>
            </a:extLst>
          </p:cNvPr>
          <p:cNvSpPr txBox="1"/>
          <p:nvPr/>
        </p:nvSpPr>
        <p:spPr>
          <a:xfrm>
            <a:off x="457200" y="1016001"/>
            <a:ext cx="11018982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Local-first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：資料儲存於瀏覽器中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(</a:t>
            </a:r>
            <a:r>
              <a:rPr kumimoji="0" lang="en-US" altLang="zh-TW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rPr>
              <a:t>IndexedDB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)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，不需後端伺服器，無資安疑慮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前端技術：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rPr>
              <a:t>TypeScript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 + 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rPr>
              <a:t>React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，部屬於</a:t>
            </a:r>
            <a:r>
              <a:rPr kumimoji="0" lang="en-US" altLang="zh-TW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rPr>
              <a:t>Github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Code Pro" panose="020B0309030403020204" pitchFamily="49" charset="0"/>
                <a:ea typeface="Source Code Pro" panose="020B0309030403020204" pitchFamily="49" charset="0"/>
                <a:cs typeface="+mn-cs"/>
              </a:rPr>
              <a:t> Pages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(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免費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)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無須安裝，直接開啟網址即可使用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7896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DECB97-51EB-0B2F-DCF1-0DB4DAE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應用場景與效益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E835-788A-B923-1ABE-E71B00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D41C2-4E98-4307-9E05-4D5FCE314E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293157-CCED-22AC-C18D-D1E37F16BDAD}"/>
              </a:ext>
            </a:extLst>
          </p:cNvPr>
          <p:cNvSpPr txBox="1"/>
          <p:nvPr/>
        </p:nvSpPr>
        <p:spPr>
          <a:xfrm>
            <a:off x="457200" y="1117601"/>
            <a:ext cx="11018982" cy="4260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安全相關專案，如台鐵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SMS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、鐵道局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SMS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需繪製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Bowtie model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都可以直接繪製、管理、輸出成果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效益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免授權費與訂閱費，不受商業軟體採購流程限制，可立即使用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原始碼完全自主掌控，可依部門同仁需求、法規修訂、業主要求新增功能，不受廠商版本更新綁定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想法驗證：可以透過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AI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開發簡易可用的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app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提升效率</a:t>
            </a:r>
          </a:p>
        </p:txBody>
      </p:sp>
    </p:spTree>
    <p:extLst>
      <p:ext uri="{BB962C8B-B14F-4D97-AF65-F5344CB8AC3E}">
        <p14:creationId xmlns:p14="http://schemas.microsoft.com/office/powerpoint/2010/main" val="2379196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DECB97-51EB-0B2F-DCF1-0DB4DAEA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chemeClr val="accent5">
                    <a:lumMod val="50000"/>
                  </a:schemeClr>
                </a:solidFill>
              </a:rPr>
              <a:t>潛在的發展挑戰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C31E835-788A-B923-1ABE-E71B0055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CD41C2-4E98-4307-9E05-4D5FCE314EE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微軟正黑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微軟正黑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6293157-CCED-22AC-C18D-D1E37F16BDAD}"/>
              </a:ext>
            </a:extLst>
          </p:cNvPr>
          <p:cNvSpPr txBox="1"/>
          <p:nvPr/>
        </p:nvSpPr>
        <p:spPr>
          <a:xfrm>
            <a:off x="457200" y="1117601"/>
            <a:ext cx="11018982" cy="19522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純前端架構在使用者管理、裝置同步會遇到問題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若後續需發展量化分析可能無法維持純前端架構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專案規模擴大後不確定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vibe-coding</a:t>
            </a: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/>
                <a:ea typeface="微軟正黑體"/>
                <a:cs typeface="+mn-cs"/>
              </a:rPr>
              <a:t>開發模式是否合適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/>
              <a:ea typeface="微軟正黑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669339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6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寬螢幕</PresentationFormat>
  <Paragraphs>42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Aptos</vt:lpstr>
      <vt:lpstr>Arial</vt:lpstr>
      <vt:lpstr>Calibri</vt:lpstr>
      <vt:lpstr>Source Code Pro</vt:lpstr>
      <vt:lpstr>2_Office 佈景主題</vt:lpstr>
      <vt:lpstr>Bowtie web app prototype</vt:lpstr>
      <vt:lpstr>Quick Start</vt:lpstr>
      <vt:lpstr>專案背景</vt:lpstr>
      <vt:lpstr>技術架構</vt:lpstr>
      <vt:lpstr>應用場景與效益</vt:lpstr>
      <vt:lpstr>潛在的發展挑戰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林軒毅</dc:creator>
  <cp:lastModifiedBy>林軒毅</cp:lastModifiedBy>
  <cp:revision>1</cp:revision>
  <dcterms:created xsi:type="dcterms:W3CDTF">2026-05-21T02:58:48Z</dcterms:created>
  <dcterms:modified xsi:type="dcterms:W3CDTF">2026-05-21T02:59:15Z</dcterms:modified>
</cp:coreProperties>
</file>